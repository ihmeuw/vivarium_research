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8"/>
  </p:notesMasterIdLst>
  <p:sldIdLst>
    <p:sldId id="2147483399" r:id="rId5"/>
    <p:sldId id="2147483400" r:id="rId6"/>
    <p:sldId id="214748340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79FF05-2F06-0037-1F43-8BF5F597A591}" name="Nathaniel D Blair-Stahn" initials="NB" userId="S::ndbs@uw.edu::55c06bba-b97a-41a2-8ee9-ea94b82ba933" providerId="AD"/>
  <p188:author id="{5FE0CD0F-BE5A-0427-4341-AA414BB3A16A}" name="Ali Bowman" initials="AB" userId="S::alibow@uw.edu::6817ebac-f0c3-46bb-a012-09102b5fced4" providerId="AD"/>
  <p188:author id="{A9187613-EC77-1644-9F94-30C36FC93042}" name="Zeb Burke-Conte" initials="ZB" userId="S::zmbc@uw.edu::696cc707-fcd0-49a3-9349-707828afe0dd" providerId="AD"/>
  <p188:author id="{8586EB37-F177-EDC4-48FA-3C432DC5B2D7}" name="Alix Pletcher" initials="AP" userId="S::pletale@uw.edu::78e92b90-ed8b-4bf9-b528-44d6aa9a7003" providerId="AD"/>
  <p188:author id="{5BDC3E78-80FE-17F4-D224-98568928496B}" name="Syl Lutze" initials="SL" userId="S::lutzes@uw.edu::eb5b6e10-03b0-423c-a712-722ae79710ea" providerId="AD"/>
  <p188:author id="{26769786-D50C-C180-75E6-013C845B938B}" name="Caroline Kinuthia" initials="CK" userId="S::carolkk@uw.edu::8a64cffb-3f94-4769-a211-0aeba85ce3ce" providerId="AD"/>
  <p188:author id="{317B8BC5-1FFC-6CF6-B84A-6674ADAED8F9}" name="Abraham D Flaxman" initials="AF" userId="S::abie@uw.edu::e877bdc6-c711-4d5f-b69d-ac7e743514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C7"/>
    <a:srgbClr val="D8D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2500A-9436-402D-9E56-9E32D1E315D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2C4A6-2FEC-47A5-B20E-69A2C239A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5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038D-03B8-85E6-8849-BC0DEEE8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7DDB-6542-3D66-5682-190B693AE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61E73-E2EB-D7C2-F322-B9ACC8A69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EEDE5-43A2-22DD-5E2C-68186645D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B68F-BCFE-4440-8423-67BB0B5B43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35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65D01-84F3-5F4D-9096-678F4527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51889-C6B3-5F7D-07DA-39A0DA8DF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2AFE4-2E67-0E32-7AA6-EA5EA3E00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F484A-A9AD-67FB-022F-2D45482CD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B68F-BCFE-4440-8423-67BB0B5B43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58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ABA6-D042-3098-A027-C9F36EF7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FBE2F-A912-CDD1-2F50-DC5FBDAF5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AB1D2-C129-53A1-7457-3CAAD386A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80415-63C3-FE11-677A-4AAE91ACD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C6B68F-BCFE-4440-8423-67BB0B5B43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41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936A84-6510-053A-E500-36F3C9612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3500" y="5728155"/>
            <a:ext cx="6073136" cy="21544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 b="0" i="0">
                <a:solidFill>
                  <a:schemeClr val="tx2"/>
                </a:solidFill>
                <a:latin typeface="Archivo Medium" pitchFamily="2" charset="77"/>
                <a:cs typeface="Archivo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79F0B1-19BC-52FA-9783-3EFA74828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2715528"/>
            <a:ext cx="9598634" cy="1666239"/>
          </a:xfrm>
        </p:spPr>
        <p:txBody>
          <a:bodyPr/>
          <a:lstStyle>
            <a:lvl1pPr>
              <a:lnSpc>
                <a:spcPts val="7020"/>
              </a:lnSpc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23EC6C-F404-33D8-99A1-CE94D520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8E4B0-90B2-D4CE-3467-BA944F3F670E}"/>
              </a:ext>
            </a:extLst>
          </p:cNvPr>
          <p:cNvSpPr/>
          <p:nvPr/>
        </p:nvSpPr>
        <p:spPr>
          <a:xfrm>
            <a:off x="0" y="6185821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EB745D-6CB5-422D-06BF-CE6D837F1638}"/>
              </a:ext>
            </a:extLst>
          </p:cNvPr>
          <p:cNvCxnSpPr>
            <a:cxnSpLocks/>
          </p:cNvCxnSpPr>
          <p:nvPr/>
        </p:nvCxnSpPr>
        <p:spPr>
          <a:xfrm>
            <a:off x="802640" y="1600200"/>
            <a:ext cx="0" cy="43434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EF0492B-1A8F-9765-82B2-59AEAD60CF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3500" y="1828800"/>
            <a:ext cx="4533900" cy="228600"/>
          </a:xfrm>
        </p:spPr>
        <p:txBody>
          <a:bodyPr anchor="ctr" anchorCtr="0"/>
          <a:lstStyle>
            <a:lvl1pPr>
              <a:defRPr lang="en-US" sz="1400" b="0" i="0" kern="1200" dirty="0">
                <a:solidFill>
                  <a:schemeClr val="tx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CLICK TO EDIT TEAM NAME</a:t>
            </a:r>
          </a:p>
        </p:txBody>
      </p:sp>
      <p:pic>
        <p:nvPicPr>
          <p:cNvPr id="10" name="Picture 9" descr="A picture containing font, graphics, screenshot, logo&#10;&#10;Description automatically generated">
            <a:extLst>
              <a:ext uri="{FF2B5EF4-FFF2-40B4-BE49-F238E27FC236}">
                <a16:creationId xmlns:a16="http://schemas.microsoft.com/office/drawing/2014/main" id="{E93C6F23-7043-81F1-F946-92505073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1" y="685799"/>
            <a:ext cx="3048002" cy="68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03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_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936A84-6510-053A-E500-36F3C9612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3500" y="5728155"/>
            <a:ext cx="6073136" cy="215444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 b="0" i="0">
                <a:solidFill>
                  <a:schemeClr val="tx2"/>
                </a:solidFill>
                <a:latin typeface="Archivo Medium" pitchFamily="2" charset="77"/>
                <a:cs typeface="Archivo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NAME(S)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79F0B1-19BC-52FA-9783-3EFA74828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2715528"/>
            <a:ext cx="9598634" cy="1666239"/>
          </a:xfrm>
        </p:spPr>
        <p:txBody>
          <a:bodyPr/>
          <a:lstStyle>
            <a:lvl1pPr>
              <a:lnSpc>
                <a:spcPts val="7020"/>
              </a:lnSpc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23EC6C-F404-33D8-99A1-CE94D520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8E4B0-90B2-D4CE-3467-BA944F3F670E}"/>
              </a:ext>
            </a:extLst>
          </p:cNvPr>
          <p:cNvSpPr/>
          <p:nvPr/>
        </p:nvSpPr>
        <p:spPr>
          <a:xfrm>
            <a:off x="0" y="6185821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EB745D-6CB5-422D-06BF-CE6D837F1638}"/>
              </a:ext>
            </a:extLst>
          </p:cNvPr>
          <p:cNvCxnSpPr>
            <a:cxnSpLocks/>
          </p:cNvCxnSpPr>
          <p:nvPr/>
        </p:nvCxnSpPr>
        <p:spPr>
          <a:xfrm>
            <a:off x="802640" y="1600200"/>
            <a:ext cx="0" cy="4343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EF0492B-1A8F-9765-82B2-59AEAD60CF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3500" y="1828800"/>
            <a:ext cx="4533900" cy="228600"/>
          </a:xfrm>
        </p:spPr>
        <p:txBody>
          <a:bodyPr anchor="ctr" anchorCtr="0"/>
          <a:lstStyle>
            <a:lvl1pPr>
              <a:defRPr lang="en-US" sz="1400" b="0" i="0" kern="1200" dirty="0">
                <a:solidFill>
                  <a:schemeClr val="tx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CLICK TO EDIT TEAM NAME</a:t>
            </a:r>
          </a:p>
        </p:txBody>
      </p:sp>
      <p:pic>
        <p:nvPicPr>
          <p:cNvPr id="10" name="Picture 9" descr="A picture containing font, graphics, screenshot, logo&#10;&#10;Description automatically generated">
            <a:extLst>
              <a:ext uri="{FF2B5EF4-FFF2-40B4-BE49-F238E27FC236}">
                <a16:creationId xmlns:a16="http://schemas.microsoft.com/office/drawing/2014/main" id="{E93C6F23-7043-81F1-F946-92505073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1" y="685799"/>
            <a:ext cx="3048002" cy="68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70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lin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DBEE5B7-ADD5-0283-252C-4D6551D7FC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1" y="2057399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54E00-04A6-2511-3B67-BC10FCDB3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A759EFB-68B7-E927-5A4E-B31D43A58D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9313"/>
            <a:ext cx="2023672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PRESENTATION TOPIC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BB07F-08B5-487A-D3AC-47D0ECFD4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4B34F3C-FEDA-E4BF-3454-59CD17244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1" y="2856052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2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EC359A3-8D9E-B96B-FDDD-8CAA3ECAEF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3654705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3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E561DC2D-D3FD-4BBD-889A-9A802428F5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4453358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4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0DFA4894-35F1-9CF5-B9B2-FEAC27591A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5252011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5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B703C0D3-0D30-ED36-3327-2A47AD92C8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08204" y="2057399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6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4E3CE021-3755-83D1-028A-4CF836C646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204" y="2856052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7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1F62DEE9-343B-4AC5-68E8-63275C6634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08204" y="3654705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8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CEDCDEA-7DD9-4A3F-416E-FE5AEAAB79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08204" y="4453358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9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3852AC6F-2EAC-8483-06BD-9951DB073A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08204" y="5252011"/>
            <a:ext cx="1636262" cy="548640"/>
          </a:xfrm>
          <a:prstGeom prst="roundRect">
            <a:avLst>
              <a:gd name="adj" fmla="val 50000"/>
            </a:avLst>
          </a:prstGeom>
          <a:noFill/>
        </p:spPr>
        <p:txBody>
          <a:bodyPr wrap="none" lIns="182880" tIns="182880" rIns="182880" bIns="182880" anchor="ctr" anchorCtr="0"/>
          <a:lstStyle>
            <a:lvl1pPr algn="l">
              <a:defRPr sz="2400"/>
            </a:lvl1pPr>
          </a:lstStyle>
          <a:p>
            <a:pPr lvl="0"/>
            <a:r>
              <a:rPr lang="en-US"/>
              <a:t>Topic 10</a:t>
            </a:r>
          </a:p>
        </p:txBody>
      </p:sp>
    </p:spTree>
    <p:extLst>
      <p:ext uri="{BB962C8B-B14F-4D97-AF65-F5344CB8AC3E}">
        <p14:creationId xmlns:p14="http://schemas.microsoft.com/office/powerpoint/2010/main" val="84945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 section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79F0B1-19BC-52FA-9783-3EFA74828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2715528"/>
            <a:ext cx="9383268" cy="1666239"/>
          </a:xfrm>
        </p:spPr>
        <p:txBody>
          <a:bodyPr/>
          <a:lstStyle>
            <a:lvl1pPr>
              <a:lnSpc>
                <a:spcPts val="702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23EC6C-F404-33D8-99A1-CE94D520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8E4B0-90B2-D4CE-3467-BA944F3F670E}"/>
              </a:ext>
            </a:extLst>
          </p:cNvPr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45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mple 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79F0B1-19BC-52FA-9783-3EFA74828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2715528"/>
            <a:ext cx="9383268" cy="1666239"/>
          </a:xfrm>
        </p:spPr>
        <p:txBody>
          <a:bodyPr/>
          <a:lstStyle>
            <a:lvl1pPr>
              <a:lnSpc>
                <a:spcPts val="702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23EC6C-F404-33D8-99A1-CE94D520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8E4B0-90B2-D4CE-3467-BA944F3F670E}"/>
              </a:ext>
            </a:extLst>
          </p:cNvPr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35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50A7-6646-52CF-C0D9-28F069F90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DEE09-1A97-6A49-BEBA-F71D33B0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15"/>
            <a:ext cx="11277599" cy="38861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242DD1-844B-74F8-6D72-96D69921F9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8A3865-BFC0-AF33-9FA9-B60560240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7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_dark_them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50A7-6646-52CF-C0D9-28F069F90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DEE09-1A97-6A49-BEBA-F71D33B0F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15"/>
            <a:ext cx="11277599" cy="38861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2105B-1A89-46E5-ED91-33B66D623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D85D77C-E30B-B033-8D76-A916D3B5D0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9313"/>
            <a:ext cx="1193800" cy="217887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tx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3384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1D4E8-15AE-B333-D2BB-3004D8525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CB1A6-1903-8928-F4EA-7F3D2ACB3F0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5625"/>
            <a:ext cx="5410200" cy="41179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3446E-BD28-D898-C48D-4EC75FAAC70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24602" y="1825625"/>
            <a:ext cx="5410198" cy="41179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C105C8-E35C-A9BA-3921-609D55CE7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FC85DAB-7B11-BB80-FCEF-48A2E69538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36860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7F45-B8AE-1C9B-0A2F-14FD957DB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021A6A8-4462-D95F-644E-E9F9264BC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A647DF66-CED1-BBCF-3E6E-0995987721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7663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pictur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7F45-B8AE-1C9B-0A2F-14FD957DB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2"/>
            <a:ext cx="11277600" cy="397932"/>
          </a:xfrm>
        </p:spPr>
        <p:txBody>
          <a:bodyPr/>
          <a:lstStyle/>
          <a:p>
            <a:r>
              <a:rPr lang="en-US"/>
              <a:t>Click to edit title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021A6A8-4462-D95F-644E-E9F9264BC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A647DF66-CED1-BBCF-3E6E-0995987721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46B8F-D3C3-B02D-0C37-448E66D0931F}"/>
              </a:ext>
            </a:extLst>
          </p:cNvPr>
          <p:cNvSpPr/>
          <p:nvPr/>
        </p:nvSpPr>
        <p:spPr>
          <a:xfrm>
            <a:off x="0" y="6299200"/>
            <a:ext cx="12192000" cy="55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BC40B6-357A-17DE-3D67-CFE1966975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600200"/>
            <a:ext cx="12192000" cy="52578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3595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1CDF3-E623-57ED-0286-9E9F6A93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70F08A-E30A-9F8D-74E9-630DEF805CDD}"/>
              </a:ext>
            </a:extLst>
          </p:cNvPr>
          <p:cNvSpPr/>
          <p:nvPr/>
        </p:nvSpPr>
        <p:spPr>
          <a:xfrm>
            <a:off x="0" y="5963920"/>
            <a:ext cx="12192000" cy="894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8423-27D2-529F-DB08-73F3B361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685800"/>
            <a:ext cx="11277597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E7348-EEEE-C639-0A64-7B2780B26E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4600" y="2049462"/>
            <a:ext cx="5410200" cy="38941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C2F0C-0C63-02A3-ED88-C66E98AA51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057400"/>
            <a:ext cx="5410200" cy="3894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A94966-E1B3-5F4F-176A-8F879E6C3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3F6C3BD-A5C0-7CFC-0B1E-F96B727577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13048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D74B-7B78-09B9-917A-F896C9579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685800"/>
            <a:ext cx="5410198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E60BC5-40F7-4C90-44BA-D5306FAA6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24600" y="685800"/>
            <a:ext cx="5410198" cy="52577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3228D-E8BC-4670-77AA-989A770BC34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057399"/>
            <a:ext cx="5410200" cy="3886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E83D61-47CB-7C82-3302-0488C058D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B0C17BD-7EDB-7E72-28F9-A46144EB18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146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1CDF3-E623-57ED-0286-9E9F6A93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70F08A-E30A-9F8D-74E9-630DEF805CDD}"/>
              </a:ext>
            </a:extLst>
          </p:cNvPr>
          <p:cNvSpPr/>
          <p:nvPr/>
        </p:nvSpPr>
        <p:spPr>
          <a:xfrm>
            <a:off x="0" y="5963920"/>
            <a:ext cx="12192000" cy="894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3E19383-BAE3-B2EC-295F-8A73A6BF34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28754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4E00-04A6-2511-3B67-BC10FCDB3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947E-7728-766D-B4F8-4E2E469D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D5C657A-D572-8268-3E3F-94C4D8FC4E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9E5F2B9-4F29-83FD-1517-6503E0DFCC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57400"/>
            <a:ext cx="1743884" cy="3886200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5C6C5CA-4B40-EEF7-ADD6-EAE502801D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58759" y="2057400"/>
            <a:ext cx="1743884" cy="3886200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7B900F-581A-BE6F-114E-4D698FC957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0318" y="2057400"/>
            <a:ext cx="1743884" cy="3886200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7A6BE38-6D90-6063-EC6B-BADE01EF9D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1877" y="2057400"/>
            <a:ext cx="1743884" cy="3886200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4821D42-81BB-D9F9-EF9E-99040DD65E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3436" y="2057400"/>
            <a:ext cx="1743884" cy="3886200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C604AB3-9E4A-3D05-D323-2215C90EE3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4993" y="2057400"/>
            <a:ext cx="1743884" cy="3886200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9077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with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4E00-04A6-2511-3B67-BC10FCDB3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947E-7728-766D-B4F8-4E2E469D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7D05C13-310D-EF13-63DC-8433F177E4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DA059F4-27BE-089C-4042-945E0C3E36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57400"/>
            <a:ext cx="1743884" cy="685801"/>
          </a:xfrm>
          <a:ln w="12700">
            <a:solidFill>
              <a:schemeClr val="accent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0886394-BD80-1D90-5CF4-D8B41BB9E6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3200"/>
            <a:ext cx="1743884" cy="3200399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66CDC9-905D-6974-ABA5-8E1AE0AEB4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58759" y="2057400"/>
            <a:ext cx="1743884" cy="685801"/>
          </a:xfrm>
          <a:ln w="12700">
            <a:solidFill>
              <a:schemeClr val="accent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E9BC266-F1F7-4613-BE1C-CC866F22F3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58759" y="2743200"/>
            <a:ext cx="1743884" cy="3200399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E9924E2-1991-E2E8-3646-5DA8F099B0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0318" y="2057400"/>
            <a:ext cx="1743884" cy="685801"/>
          </a:xfrm>
          <a:ln w="12700">
            <a:solidFill>
              <a:schemeClr val="accent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EDB9B15D-2B3C-FD93-8CDD-510D9AAE4E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60318" y="2743200"/>
            <a:ext cx="1743884" cy="3200399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EE036E4-EABE-2C55-AD63-F70722E08A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1877" y="2057400"/>
            <a:ext cx="1743884" cy="685801"/>
          </a:xfrm>
          <a:ln w="12700">
            <a:solidFill>
              <a:schemeClr val="accent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C009F9B-BEB5-38C6-9A4F-8769991490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1877" y="2743200"/>
            <a:ext cx="1743884" cy="3200399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37279A8D-9199-0E83-7755-0DD24F1779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3436" y="2057400"/>
            <a:ext cx="1743884" cy="685801"/>
          </a:xfrm>
          <a:ln w="12700">
            <a:solidFill>
              <a:schemeClr val="accent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A742118-4348-D6BA-D6C1-8B4CFDD84B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63436" y="2743200"/>
            <a:ext cx="1743884" cy="3200399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05C7B8D-0D52-8CD0-5579-2A2E6AE35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64995" y="2057400"/>
            <a:ext cx="1743884" cy="685801"/>
          </a:xfrm>
          <a:ln w="12700">
            <a:solidFill>
              <a:schemeClr val="accent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1F27D68-D606-6A21-48D6-BC396A36BC2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64995" y="2743200"/>
            <a:ext cx="1743884" cy="3200399"/>
          </a:xfrm>
          <a:ln w="12700">
            <a:solidFill>
              <a:schemeClr val="accent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21583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umns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4E00-04A6-2511-3B67-BC10FCDB3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947E-7728-766D-B4F8-4E2E469D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D5C657A-D572-8268-3E3F-94C4D8FC4E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tx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9E5F2B9-4F29-83FD-1517-6503E0DFCC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57400"/>
            <a:ext cx="1743884" cy="3886200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5C6C5CA-4B40-EEF7-ADD6-EAE502801D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58759" y="2057400"/>
            <a:ext cx="1743884" cy="3886200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7B900F-581A-BE6F-114E-4D698FC957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0318" y="2057400"/>
            <a:ext cx="1743884" cy="3886200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7A6BE38-6D90-6063-EC6B-BADE01EF9D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1877" y="2057400"/>
            <a:ext cx="1743884" cy="3886200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4821D42-81BB-D9F9-EF9E-99040DD65E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3436" y="2057400"/>
            <a:ext cx="1743884" cy="3886200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C604AB3-9E4A-3D05-D323-2215C90EE3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4993" y="2057400"/>
            <a:ext cx="1743884" cy="3886200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4157101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lumns with 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4E00-04A6-2511-3B67-BC10FCDB3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947E-7728-766D-B4F8-4E2E469D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7D05C13-310D-EF13-63DC-8433F177E4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tx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DA059F4-27BE-089C-4042-945E0C3E36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57400"/>
            <a:ext cx="1743884" cy="685801"/>
          </a:xfrm>
          <a:ln w="12700">
            <a:solidFill>
              <a:schemeClr val="tx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0886394-BD80-1D90-5CF4-D8B41BB9E6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3200"/>
            <a:ext cx="1743884" cy="3200399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66CDC9-905D-6974-ABA5-8E1AE0AEB4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58759" y="2057400"/>
            <a:ext cx="1743884" cy="685801"/>
          </a:xfrm>
          <a:ln w="12700">
            <a:solidFill>
              <a:schemeClr val="tx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E9BC266-F1F7-4613-BE1C-CC866F22F3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58759" y="2743200"/>
            <a:ext cx="1743884" cy="3200399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E9924E2-1991-E2E8-3646-5DA8F099B0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0318" y="2057400"/>
            <a:ext cx="1743884" cy="685801"/>
          </a:xfrm>
          <a:ln w="12700">
            <a:solidFill>
              <a:schemeClr val="tx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EDB9B15D-2B3C-FD93-8CDD-510D9AAE4E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60318" y="2743200"/>
            <a:ext cx="1743884" cy="3200399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EE036E4-EABE-2C55-AD63-F70722E08A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1877" y="2057400"/>
            <a:ext cx="1743884" cy="685801"/>
          </a:xfrm>
          <a:ln w="12700">
            <a:solidFill>
              <a:schemeClr val="tx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C009F9B-BEB5-38C6-9A4F-8769991490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1877" y="2743200"/>
            <a:ext cx="1743884" cy="3200399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37279A8D-9199-0E83-7755-0DD24F17799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3436" y="2057400"/>
            <a:ext cx="1743884" cy="685801"/>
          </a:xfrm>
          <a:ln w="12700">
            <a:solidFill>
              <a:schemeClr val="tx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A742118-4348-D6BA-D6C1-8B4CFDD84B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63436" y="2743200"/>
            <a:ext cx="1743884" cy="3200399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05C7B8D-0D52-8CD0-5579-2A2E6AE35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64995" y="2057400"/>
            <a:ext cx="1743884" cy="685801"/>
          </a:xfrm>
          <a:ln w="12700">
            <a:solidFill>
              <a:schemeClr val="tx2"/>
            </a:solidFill>
          </a:ln>
        </p:spPr>
        <p:txBody>
          <a:bodyPr lIns="182880" tIns="9144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1F27D68-D606-6A21-48D6-BC396A36BC2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64995" y="2743200"/>
            <a:ext cx="1743884" cy="3200399"/>
          </a:xfrm>
          <a:ln w="12700">
            <a:solidFill>
              <a:schemeClr val="tx2"/>
            </a:solidFill>
          </a:ln>
        </p:spPr>
        <p:txBody>
          <a:bodyPr lIns="182880" tIns="182880" rIns="182880" bIns="182880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797155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947E-7728-766D-B4F8-4E2E469D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C43E65-BCF7-B15B-818E-B1E31766D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235241"/>
            <a:ext cx="4243137" cy="1700463"/>
          </a:xfrm>
        </p:spPr>
        <p:txBody>
          <a:bodyPr numCol="1" spcCol="457200"/>
          <a:lstStyle>
            <a:lvl1pPr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E2394CF-D5E5-9F84-AF01-7896DE79A8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23661" y="1571959"/>
            <a:ext cx="2917038" cy="2197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55E28FB-671C-3303-3D06-18E823CA2DF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06612" y="1583110"/>
            <a:ext cx="2917038" cy="2197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D60E5CF-2083-6DCF-B65A-11085692441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23661" y="3849381"/>
            <a:ext cx="2917038" cy="2197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67738E43-3877-64F8-AF92-75BDF82E6A9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06612" y="3860532"/>
            <a:ext cx="2917038" cy="2197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DC64965-4CDC-156C-72E8-B7811CA76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840710" y="3849381"/>
            <a:ext cx="2917038" cy="2197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0985BC84-7778-C77C-ECC2-D6CD168581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2209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right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947E-7728-766D-B4F8-4E2E469D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DAE0D-0B48-1742-5FE9-F1B4DE167BF2}"/>
              </a:ext>
            </a:extLst>
          </p:cNvPr>
          <p:cNvSpPr/>
          <p:nvPr/>
        </p:nvSpPr>
        <p:spPr>
          <a:xfrm>
            <a:off x="0" y="6172198"/>
            <a:ext cx="12192000" cy="685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C43E65-BCF7-B15B-818E-B1E31766D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235241"/>
            <a:ext cx="4243137" cy="3836292"/>
          </a:xfrm>
        </p:spPr>
        <p:txBody>
          <a:bodyPr numCol="1" spcCol="457200"/>
          <a:lstStyle>
            <a:lvl1pPr>
              <a:defRPr sz="2400">
                <a:solidFill>
                  <a:schemeClr val="accent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5208EC25-A04C-8687-8B67-9B9F8B5AE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ln>
            <a:solidFill>
              <a:schemeClr val="accent2"/>
            </a:solidFill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accent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55E28FB-671C-3303-3D06-18E823CA2DF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06191" y="0"/>
            <a:ext cx="678580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083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-right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947E-7728-766D-B4F8-4E2E469D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DAE0D-0B48-1742-5FE9-F1B4DE167BF2}"/>
              </a:ext>
            </a:extLst>
          </p:cNvPr>
          <p:cNvSpPr/>
          <p:nvPr/>
        </p:nvSpPr>
        <p:spPr>
          <a:xfrm>
            <a:off x="0" y="6172198"/>
            <a:ext cx="12192000" cy="6858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C43E65-BCF7-B15B-818E-B1E31766D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235241"/>
            <a:ext cx="4243137" cy="3836292"/>
          </a:xfrm>
        </p:spPr>
        <p:txBody>
          <a:bodyPr numCol="1" spcCol="457200"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5208EC25-A04C-8687-8B67-9B9F8B5AE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9313"/>
            <a:ext cx="1116965" cy="217887"/>
          </a:xfrm>
          <a:prstGeom prst="roundRect">
            <a:avLst>
              <a:gd name="adj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wrap="square" anchor="ctr" anchorCtr="0"/>
          <a:lstStyle>
            <a:lvl1pPr marL="0" algn="ctr" defTabSz="914400" rtl="0" eaLnBrk="1" latinLnBrk="0" hangingPunct="1">
              <a:defRPr lang="en-US" sz="900" b="0" i="0" kern="1200" dirty="0">
                <a:solidFill>
                  <a:schemeClr val="tx2"/>
                </a:solidFill>
                <a:latin typeface="Archivo Medium" pitchFamily="2" charset="77"/>
                <a:ea typeface="+mn-ea"/>
                <a:cs typeface="Archivo Medium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55E28FB-671C-3303-3D06-18E823CA2DF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06191" y="0"/>
            <a:ext cx="678580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527165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936A84-6510-053A-E500-36F3C9612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3500" y="5512712"/>
            <a:ext cx="6073136" cy="430887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 b="0" i="0">
                <a:solidFill>
                  <a:schemeClr val="tx2"/>
                </a:solidFill>
                <a:latin typeface="Archivo Medium" pitchFamily="2" charset="77"/>
                <a:cs typeface="Archivo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FOLLOW-UP INSTRUCTIONS, CONTACT EMAIL, OR RELEVANT HYPERLINKS [OPTIONAL]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79F0B1-19BC-52FA-9783-3EFA74828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2715528"/>
            <a:ext cx="9598634" cy="1666239"/>
          </a:xfrm>
        </p:spPr>
        <p:txBody>
          <a:bodyPr/>
          <a:lstStyle>
            <a:lvl1pPr>
              <a:lnSpc>
                <a:spcPts val="7020"/>
              </a:lnSpc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23EC6C-F404-33D8-99A1-CE94D520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F8E4B0-90B2-D4CE-3467-BA944F3F670E}"/>
              </a:ext>
            </a:extLst>
          </p:cNvPr>
          <p:cNvSpPr/>
          <p:nvPr/>
        </p:nvSpPr>
        <p:spPr>
          <a:xfrm>
            <a:off x="0" y="6185821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EB745D-6CB5-422D-06BF-CE6D837F1638}"/>
              </a:ext>
            </a:extLst>
          </p:cNvPr>
          <p:cNvCxnSpPr>
            <a:cxnSpLocks/>
          </p:cNvCxnSpPr>
          <p:nvPr/>
        </p:nvCxnSpPr>
        <p:spPr>
          <a:xfrm>
            <a:off x="802640" y="1600200"/>
            <a:ext cx="0" cy="43434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font, graphics, screenshot, logo&#10;&#10;Description automatically generated">
            <a:extLst>
              <a:ext uri="{FF2B5EF4-FFF2-40B4-BE49-F238E27FC236}">
                <a16:creationId xmlns:a16="http://schemas.microsoft.com/office/drawing/2014/main" id="{E93C6F23-7043-81F1-F946-92505073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1" y="685799"/>
            <a:ext cx="3048002" cy="68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18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D4FFF3-CF98-2E5F-9F4C-9EA12E86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1"/>
            <a:ext cx="11277600" cy="914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title text</a:t>
            </a:r>
            <a:br>
              <a:rPr lang="en-US"/>
            </a:br>
            <a:r>
              <a:rPr lang="en-US"/>
              <a:t>second line of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259F8-F6FC-FEF5-B666-3A6010C85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68975"/>
            <a:ext cx="11277599" cy="38746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83B5A-5D7B-8927-BE73-E6294A007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412375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0" i="0">
                <a:solidFill>
                  <a:schemeClr val="tx2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48" name="Picture 47" descr="A picture containing graphics, font, graphic design, logo&#10;&#10;Description automatically generated">
            <a:extLst>
              <a:ext uri="{FF2B5EF4-FFF2-40B4-BE49-F238E27FC236}">
                <a16:creationId xmlns:a16="http://schemas.microsoft.com/office/drawing/2014/main" id="{37BD7A90-111A-B8FA-F7FF-6A50FA1FC87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6400800"/>
            <a:ext cx="658368" cy="232693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035D6B0-D303-DEB7-E45A-93A300DA1A22}"/>
              </a:ext>
            </a:extLst>
          </p:cNvPr>
          <p:cNvCxnSpPr>
            <a:cxnSpLocks/>
          </p:cNvCxnSpPr>
          <p:nvPr/>
        </p:nvCxnSpPr>
        <p:spPr>
          <a:xfrm>
            <a:off x="1371600" y="6519672"/>
            <a:ext cx="9939528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76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accent2"/>
          </a:solidFill>
          <a:latin typeface="Archivo Light" pitchFamily="2" charset="77"/>
          <a:ea typeface="+mj-ea"/>
          <a:cs typeface="Archivo Light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sz="2000" b="0" i="0" kern="1200">
          <a:solidFill>
            <a:schemeClr val="tx2"/>
          </a:solidFill>
          <a:latin typeface="Archivo Light" pitchFamily="2" charset="77"/>
          <a:ea typeface="+mn-ea"/>
          <a:cs typeface="Archivo Light" pitchFamily="2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chivo Light" pitchFamily="2" charset="77"/>
          <a:ea typeface="+mn-ea"/>
          <a:cs typeface="Archivo Light" pitchFamily="2" charset="77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chivo Light" pitchFamily="2" charset="77"/>
          <a:ea typeface="+mn-ea"/>
          <a:cs typeface="Archivo Light" pitchFamily="2" charset="77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Archivo Light" pitchFamily="2" charset="77"/>
          <a:ea typeface="+mn-ea"/>
          <a:cs typeface="Archivo Light" pitchFamily="2" charset="77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chivo Light" pitchFamily="2" charset="77"/>
          <a:ea typeface="+mn-ea"/>
          <a:cs typeface="Archivo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984">
          <p15:clr>
            <a:srgbClr val="F26B43"/>
          </p15:clr>
        </p15:guide>
        <p15:guide id="3" pos="3696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2304">
          <p15:clr>
            <a:srgbClr val="F26B43"/>
          </p15:clr>
        </p15:guide>
        <p15:guide id="6" orient="horz" pos="2016">
          <p15:clr>
            <a:srgbClr val="F26B43"/>
          </p15:clr>
        </p15:guide>
        <p15:guide id="7">
          <p15:clr>
            <a:srgbClr val="F26B43"/>
          </p15:clr>
        </p15:guide>
        <p15:guide id="8" pos="288">
          <p15:clr>
            <a:srgbClr val="F26B43"/>
          </p15:clr>
        </p15:guide>
        <p15:guide id="9" pos="7680">
          <p15:clr>
            <a:srgbClr val="F26B43"/>
          </p15:clr>
        </p15:guide>
        <p15:guide id="10" pos="7392">
          <p15:clr>
            <a:srgbClr val="F26B43"/>
          </p15:clr>
        </p15:guide>
        <p15:guide id="11" orient="horz" pos="4032">
          <p15:clr>
            <a:srgbClr val="F26B43"/>
          </p15:clr>
        </p15:guide>
        <p15:guide id="12" orient="horz" pos="3744">
          <p15:clr>
            <a:srgbClr val="F26B43"/>
          </p15:clr>
        </p15:guide>
        <p15:guide id="13" orient="horz" pos="288">
          <p15:clr>
            <a:srgbClr val="F26B43"/>
          </p15:clr>
        </p15:guide>
        <p15:guide id="14" orient="horz" pos="432">
          <p15:clr>
            <a:srgbClr val="F26B43"/>
          </p15:clr>
        </p15:guide>
        <p15:guide id="15" orient="horz" pos="144">
          <p15:clr>
            <a:srgbClr val="F26B43"/>
          </p15:clr>
        </p15:guide>
        <p15:guide id="16" orient="horz" pos="720">
          <p15:clr>
            <a:srgbClr val="F26B43"/>
          </p15:clr>
        </p15:guide>
        <p15:guide id="17" orient="horz" pos="576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864">
          <p15:clr>
            <a:srgbClr val="F26B43"/>
          </p15:clr>
        </p15:guide>
        <p15:guide id="20" orient="horz" pos="1296">
          <p15:clr>
            <a:srgbClr val="F26B43"/>
          </p15:clr>
        </p15:guide>
        <p15:guide id="21" orient="horz" pos="1152">
          <p15:clr>
            <a:srgbClr val="F26B43"/>
          </p15:clr>
        </p15:guide>
        <p15:guide id="22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6ECE-1603-0316-EA7D-D543B587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83CD-FFC5-ECFA-D178-8C69492E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Pregnancy and antenatal care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5EF50-3F7F-BD13-BC67-DBC6C375F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altLang="en-US" sz="1067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1E776F5-9A26-455E-BF09-7D727D022004}" type="slidenum">
              <a:rPr lang="en-US" smtClean="0"/>
              <a:pPr algn="ctr"/>
              <a:t>1</a:t>
            </a:fld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0D53970-2CF1-E376-76DB-0361B5CCA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239313"/>
            <a:ext cx="1188720" cy="217887"/>
          </a:xfrm>
        </p:spPr>
        <p:txBody>
          <a:bodyPr/>
          <a:lstStyle/>
          <a:p>
            <a:r>
              <a:rPr lang="en-US"/>
              <a:t>MNCNH Portfolio</a:t>
            </a: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AE2F73AF-6BB1-4E4B-8E6A-01A9831AE2C6}"/>
              </a:ext>
            </a:extLst>
          </p:cNvPr>
          <p:cNvSpPr/>
          <p:nvPr/>
        </p:nvSpPr>
        <p:spPr>
          <a:xfrm>
            <a:off x="9187373" y="237646"/>
            <a:ext cx="1505064" cy="448156"/>
          </a:xfrm>
          <a:prstGeom prst="chevron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Birth and Intrapartum Care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70D8512-C5ED-8399-7467-45168736C5A1}"/>
              </a:ext>
            </a:extLst>
          </p:cNvPr>
          <p:cNvSpPr/>
          <p:nvPr/>
        </p:nvSpPr>
        <p:spPr>
          <a:xfrm>
            <a:off x="10546040" y="237646"/>
            <a:ext cx="1505064" cy="448156"/>
          </a:xfrm>
          <a:prstGeom prst="chevron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Newborns and Neonatal Care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84BEA2F-5D89-5944-6400-3FD8EDB2E537}"/>
              </a:ext>
            </a:extLst>
          </p:cNvPr>
          <p:cNvSpPr/>
          <p:nvPr/>
        </p:nvSpPr>
        <p:spPr>
          <a:xfrm>
            <a:off x="7828706" y="237646"/>
            <a:ext cx="1505064" cy="448156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tx2"/>
                </a:solidFill>
              </a:rPr>
              <a:t>Pregnancy and Antenatal Care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735489-DF1A-FC42-918A-EB5EE578F41C}"/>
              </a:ext>
            </a:extLst>
          </p:cNvPr>
          <p:cNvSpPr/>
          <p:nvPr/>
        </p:nvSpPr>
        <p:spPr>
          <a:xfrm>
            <a:off x="242403" y="2449940"/>
            <a:ext cx="1577771" cy="58706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Pregnancy begins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B734CF-3454-6B30-1159-ACD814EC6086}"/>
              </a:ext>
            </a:extLst>
          </p:cNvPr>
          <p:cNvSpPr/>
          <p:nvPr/>
        </p:nvSpPr>
        <p:spPr>
          <a:xfrm>
            <a:off x="9634801" y="4547279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Maternal disorders and maternal health outcomes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F55DE0-742B-8810-CFA2-F7F31245C1E7}"/>
              </a:ext>
            </a:extLst>
          </p:cNvPr>
          <p:cNvSpPr/>
          <p:nvPr/>
        </p:nvSpPr>
        <p:spPr>
          <a:xfrm>
            <a:off x="242403" y="3521569"/>
            <a:ext cx="1577771" cy="58706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ANC attendance?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CBC1F5-1136-0B1A-803E-8F291C4EE946}"/>
              </a:ext>
            </a:extLst>
          </p:cNvPr>
          <p:cNvSpPr/>
          <p:nvPr/>
        </p:nvSpPr>
        <p:spPr>
          <a:xfrm>
            <a:off x="3309078" y="1993689"/>
            <a:ext cx="2416313" cy="587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Iron and Folic Acid (IFA)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27CD012-C8BE-1102-6BE4-6DDB4E0F10E0}"/>
              </a:ext>
            </a:extLst>
          </p:cNvPr>
          <p:cNvSpPr/>
          <p:nvPr/>
        </p:nvSpPr>
        <p:spPr>
          <a:xfrm>
            <a:off x="3309078" y="2755071"/>
            <a:ext cx="2416313" cy="5870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chivo"/>
                <a:cs typeface="Calibri"/>
              </a:rPr>
              <a:t>Multiple micronutrients (MMS)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7748BA0-11D6-0D26-C09F-ED1DCE9AB599}"/>
              </a:ext>
            </a:extLst>
          </p:cNvPr>
          <p:cNvSpPr/>
          <p:nvPr/>
        </p:nvSpPr>
        <p:spPr>
          <a:xfrm>
            <a:off x="3309078" y="4163211"/>
            <a:ext cx="2416313" cy="58706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Pre-eclampsia risk assessment and prevention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32C9FD4-7F60-6352-F8D8-3DD278DB0E29}"/>
              </a:ext>
            </a:extLst>
          </p:cNvPr>
          <p:cNvSpPr/>
          <p:nvPr/>
        </p:nvSpPr>
        <p:spPr>
          <a:xfrm>
            <a:off x="3309078" y="4924593"/>
            <a:ext cx="2416313" cy="58706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Pre-eclampsia screening and treatment 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EB67BBB-F790-9022-DD06-79B39BC7CE67}"/>
              </a:ext>
            </a:extLst>
          </p:cNvPr>
          <p:cNvSpPr/>
          <p:nvPr/>
        </p:nvSpPr>
        <p:spPr>
          <a:xfrm>
            <a:off x="3309078" y="5712077"/>
            <a:ext cx="2416313" cy="587063"/>
          </a:xfrm>
          <a:prstGeom prst="roundRect">
            <a:avLst/>
          </a:prstGeom>
          <a:solidFill>
            <a:srgbClr val="D8D2F4"/>
          </a:solidFill>
          <a:ln w="95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Standard or AI ultrasound for gestational Age dating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42AF8AC-B8F3-B034-89C6-0910EF34448B}"/>
              </a:ext>
            </a:extLst>
          </p:cNvPr>
          <p:cNvSpPr/>
          <p:nvPr/>
        </p:nvSpPr>
        <p:spPr>
          <a:xfrm>
            <a:off x="3309078" y="3479115"/>
            <a:ext cx="2416313" cy="587063"/>
          </a:xfrm>
          <a:prstGeom prst="roundRect">
            <a:avLst/>
          </a:prstGeom>
          <a:solidFill>
            <a:srgbClr val="FFFEC7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chivo"/>
                <a:cs typeface="Calibri"/>
              </a:rPr>
              <a:t>Anemia screening and treatment with intravenous (IV) iron</a:t>
            </a:r>
            <a:endParaRPr lang="en-US" sz="1200">
              <a:solidFill>
                <a:sysClr val="windowText" lastClr="00000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17F885F-9DED-6038-6086-4DA762545F5F}"/>
              </a:ext>
            </a:extLst>
          </p:cNvPr>
          <p:cNvSpPr/>
          <p:nvPr/>
        </p:nvSpPr>
        <p:spPr>
          <a:xfrm>
            <a:off x="6557112" y="3429000"/>
            <a:ext cx="2416313" cy="58706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Hemoglobin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4026094-00B6-E56B-7FEB-B736EE699ECB}"/>
              </a:ext>
            </a:extLst>
          </p:cNvPr>
          <p:cNvSpPr/>
          <p:nvPr/>
        </p:nvSpPr>
        <p:spPr>
          <a:xfrm>
            <a:off x="6557122" y="2133786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Birthweight and gestational age of the baby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04A75BE-F224-61F6-04EF-25AA66AAA3AC}"/>
              </a:ext>
            </a:extLst>
          </p:cNvPr>
          <p:cNvSpPr/>
          <p:nvPr/>
        </p:nvSpPr>
        <p:spPr>
          <a:xfrm>
            <a:off x="9634801" y="5712076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Selection of delivery facility in the next section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671DBCE-8480-7546-CC88-A6DAA96A9677}"/>
              </a:ext>
            </a:extLst>
          </p:cNvPr>
          <p:cNvSpPr/>
          <p:nvPr/>
        </p:nvSpPr>
        <p:spPr>
          <a:xfrm>
            <a:off x="6557112" y="5712076"/>
            <a:ext cx="2416313" cy="58706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Information about the health and risk level of the pregnancy and child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D2FADEF-6F48-7D18-68D7-90A680F394FC}"/>
              </a:ext>
            </a:extLst>
          </p:cNvPr>
          <p:cNvSpPr/>
          <p:nvPr/>
        </p:nvSpPr>
        <p:spPr>
          <a:xfrm>
            <a:off x="3373802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Interventions Available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7F7E8F-63B7-1CBF-6A0D-9F54BEEC0FA6}"/>
              </a:ext>
            </a:extLst>
          </p:cNvPr>
          <p:cNvSpPr/>
          <p:nvPr/>
        </p:nvSpPr>
        <p:spPr>
          <a:xfrm>
            <a:off x="299048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Beginning of Simulation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F2738B-6F14-D16F-3C70-8B8A8552A055}"/>
              </a:ext>
            </a:extLst>
          </p:cNvPr>
          <p:cNvSpPr/>
          <p:nvPr/>
        </p:nvSpPr>
        <p:spPr>
          <a:xfrm>
            <a:off x="6621836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Risk Factors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B43982-C23C-C26B-C0EE-B91DF2F7344C}"/>
              </a:ext>
            </a:extLst>
          </p:cNvPr>
          <p:cNvSpPr/>
          <p:nvPr/>
        </p:nvSpPr>
        <p:spPr>
          <a:xfrm>
            <a:off x="9606088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Simulation Outputs </a:t>
            </a:r>
          </a:p>
        </p:txBody>
      </p:sp>
      <p:cxnSp>
        <p:nvCxnSpPr>
          <p:cNvPr id="65" name="Connector: Elbow 52">
            <a:extLst>
              <a:ext uri="{FF2B5EF4-FFF2-40B4-BE49-F238E27FC236}">
                <a16:creationId xmlns:a16="http://schemas.microsoft.com/office/drawing/2014/main" id="{1C32BAB7-3B7A-80FC-DF66-8F463F189C76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1031289" y="3037004"/>
            <a:ext cx="0" cy="484565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52">
            <a:extLst>
              <a:ext uri="{FF2B5EF4-FFF2-40B4-BE49-F238E27FC236}">
                <a16:creationId xmlns:a16="http://schemas.microsoft.com/office/drawing/2014/main" id="{124A9AD5-062D-753B-8CFD-3CDA467AB0F8}"/>
              </a:ext>
            </a:extLst>
          </p:cNvPr>
          <p:cNvCxnSpPr>
            <a:cxnSpLocks/>
            <a:stCxn id="17" idx="3"/>
            <a:endCxn id="38" idx="1"/>
          </p:cNvCxnSpPr>
          <p:nvPr/>
        </p:nvCxnSpPr>
        <p:spPr>
          <a:xfrm>
            <a:off x="5725391" y="2287221"/>
            <a:ext cx="831721" cy="1435311"/>
          </a:xfrm>
          <a:prstGeom prst="straightConnector1">
            <a:avLst/>
          </a:prstGeom>
          <a:ln w="95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D8126301-6774-1042-53F8-48B6A66CAF82}"/>
              </a:ext>
            </a:extLst>
          </p:cNvPr>
          <p:cNvSpPr/>
          <p:nvPr/>
        </p:nvSpPr>
        <p:spPr>
          <a:xfrm>
            <a:off x="2214266" y="2166251"/>
            <a:ext cx="737921" cy="4011283"/>
          </a:xfrm>
          <a:prstGeom prst="chevron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ysClr val="windowText" lastClr="000000"/>
              </a:solidFill>
            </a:endParaRPr>
          </a:p>
        </p:txBody>
      </p:sp>
      <p:cxnSp>
        <p:nvCxnSpPr>
          <p:cNvPr id="79" name="Connector: Elbow 52">
            <a:extLst>
              <a:ext uri="{FF2B5EF4-FFF2-40B4-BE49-F238E27FC236}">
                <a16:creationId xmlns:a16="http://schemas.microsoft.com/office/drawing/2014/main" id="{6F33D366-A9E3-00D5-9AB5-977ED1A94330}"/>
              </a:ext>
            </a:extLst>
          </p:cNvPr>
          <p:cNvCxnSpPr>
            <a:cxnSpLocks/>
            <a:stCxn id="32" idx="3"/>
            <a:endCxn id="38" idx="1"/>
          </p:cNvCxnSpPr>
          <p:nvPr/>
        </p:nvCxnSpPr>
        <p:spPr>
          <a:xfrm>
            <a:off x="5725391" y="3048603"/>
            <a:ext cx="831721" cy="673929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52">
            <a:extLst>
              <a:ext uri="{FF2B5EF4-FFF2-40B4-BE49-F238E27FC236}">
                <a16:creationId xmlns:a16="http://schemas.microsoft.com/office/drawing/2014/main" id="{1628BC6B-3F04-AEFA-BA16-AA69EA35BCA9}"/>
              </a:ext>
            </a:extLst>
          </p:cNvPr>
          <p:cNvCxnSpPr>
            <a:cxnSpLocks/>
            <a:stCxn id="35" idx="3"/>
            <a:endCxn id="46" idx="1"/>
          </p:cNvCxnSpPr>
          <p:nvPr/>
        </p:nvCxnSpPr>
        <p:spPr>
          <a:xfrm flipV="1">
            <a:off x="5725391" y="6005608"/>
            <a:ext cx="831721" cy="1"/>
          </a:xfrm>
          <a:prstGeom prst="bentConnector3">
            <a:avLst>
              <a:gd name="adj1" fmla="val 50000"/>
            </a:avLst>
          </a:prstGeom>
          <a:ln w="95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52">
            <a:extLst>
              <a:ext uri="{FF2B5EF4-FFF2-40B4-BE49-F238E27FC236}">
                <a16:creationId xmlns:a16="http://schemas.microsoft.com/office/drawing/2014/main" id="{BC9AEA2F-2C72-E772-74AA-492EF75B44F3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 flipV="1">
            <a:off x="5725391" y="3722532"/>
            <a:ext cx="831721" cy="50115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52">
            <a:extLst>
              <a:ext uri="{FF2B5EF4-FFF2-40B4-BE49-F238E27FC236}">
                <a16:creationId xmlns:a16="http://schemas.microsoft.com/office/drawing/2014/main" id="{BDB78E4F-5CFF-5193-4C89-4CF97D943A1B}"/>
              </a:ext>
            </a:extLst>
          </p:cNvPr>
          <p:cNvCxnSpPr>
            <a:cxnSpLocks/>
            <a:stCxn id="38" idx="3"/>
            <a:endCxn id="15" idx="1"/>
          </p:cNvCxnSpPr>
          <p:nvPr/>
        </p:nvCxnSpPr>
        <p:spPr>
          <a:xfrm>
            <a:off x="8973425" y="3722532"/>
            <a:ext cx="661376" cy="1118278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52">
            <a:extLst>
              <a:ext uri="{FF2B5EF4-FFF2-40B4-BE49-F238E27FC236}">
                <a16:creationId xmlns:a16="http://schemas.microsoft.com/office/drawing/2014/main" id="{B4ABC3E3-1A97-E05C-545B-FB60E9431AD4}"/>
              </a:ext>
            </a:extLst>
          </p:cNvPr>
          <p:cNvCxnSpPr>
            <a:cxnSpLocks/>
            <a:stCxn id="46" idx="3"/>
            <a:endCxn id="41" idx="1"/>
          </p:cNvCxnSpPr>
          <p:nvPr/>
        </p:nvCxnSpPr>
        <p:spPr>
          <a:xfrm flipV="1">
            <a:off x="8973425" y="6005607"/>
            <a:ext cx="661376" cy="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52">
            <a:extLst>
              <a:ext uri="{FF2B5EF4-FFF2-40B4-BE49-F238E27FC236}">
                <a16:creationId xmlns:a16="http://schemas.microsoft.com/office/drawing/2014/main" id="{D963CCFA-2554-EC7B-E4E9-93D6F9205DEC}"/>
              </a:ext>
            </a:extLst>
          </p:cNvPr>
          <p:cNvCxnSpPr>
            <a:cxnSpLocks/>
            <a:stCxn id="17" idx="3"/>
            <a:endCxn id="40" idx="1"/>
          </p:cNvCxnSpPr>
          <p:nvPr/>
        </p:nvCxnSpPr>
        <p:spPr>
          <a:xfrm>
            <a:off x="5725391" y="2287221"/>
            <a:ext cx="831731" cy="140096"/>
          </a:xfrm>
          <a:prstGeom prst="straightConnector1">
            <a:avLst/>
          </a:prstGeom>
          <a:ln w="95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52">
            <a:extLst>
              <a:ext uri="{FF2B5EF4-FFF2-40B4-BE49-F238E27FC236}">
                <a16:creationId xmlns:a16="http://schemas.microsoft.com/office/drawing/2014/main" id="{6499AF58-D7C7-A008-4C4D-99C759AC438F}"/>
              </a:ext>
            </a:extLst>
          </p:cNvPr>
          <p:cNvCxnSpPr>
            <a:cxnSpLocks/>
            <a:stCxn id="32" idx="3"/>
            <a:endCxn id="40" idx="1"/>
          </p:cNvCxnSpPr>
          <p:nvPr/>
        </p:nvCxnSpPr>
        <p:spPr>
          <a:xfrm flipV="1">
            <a:off x="5725391" y="2427317"/>
            <a:ext cx="831731" cy="621286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52">
            <a:extLst>
              <a:ext uri="{FF2B5EF4-FFF2-40B4-BE49-F238E27FC236}">
                <a16:creationId xmlns:a16="http://schemas.microsoft.com/office/drawing/2014/main" id="{3F1B1069-10C9-1FA3-BEB6-8AF09C825511}"/>
              </a:ext>
            </a:extLst>
          </p:cNvPr>
          <p:cNvCxnSpPr>
            <a:cxnSpLocks/>
            <a:stCxn id="33" idx="3"/>
            <a:endCxn id="15" idx="1"/>
          </p:cNvCxnSpPr>
          <p:nvPr/>
        </p:nvCxnSpPr>
        <p:spPr>
          <a:xfrm>
            <a:off x="5725391" y="4456743"/>
            <a:ext cx="3909410" cy="384067"/>
          </a:xfrm>
          <a:prstGeom prst="straightConnector1">
            <a:avLst/>
          </a:prstGeom>
          <a:ln w="95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52">
            <a:extLst>
              <a:ext uri="{FF2B5EF4-FFF2-40B4-BE49-F238E27FC236}">
                <a16:creationId xmlns:a16="http://schemas.microsoft.com/office/drawing/2014/main" id="{2B59875E-FEE4-FF29-93CD-92EB38DA2396}"/>
              </a:ext>
            </a:extLst>
          </p:cNvPr>
          <p:cNvCxnSpPr>
            <a:cxnSpLocks/>
            <a:stCxn id="34" idx="3"/>
            <a:endCxn id="15" idx="1"/>
          </p:cNvCxnSpPr>
          <p:nvPr/>
        </p:nvCxnSpPr>
        <p:spPr>
          <a:xfrm flipV="1">
            <a:off x="5725391" y="4840810"/>
            <a:ext cx="3909410" cy="377315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25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939A-2EAE-0D8C-F091-0C50AD63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E7A9-C2E7-1541-346F-A6F0BC1A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Birth and intrapartum care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00702-D3BF-1128-4A32-9CCE5D152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altLang="en-US" sz="1067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1E776F5-9A26-455E-BF09-7D727D022004}" type="slidenum">
              <a:rPr lang="en-US" smtClean="0"/>
              <a:pPr algn="ctr"/>
              <a:t>2</a:t>
            </a:fld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313E256-FAB1-BC08-5367-15EEB82381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239313"/>
            <a:ext cx="1188720" cy="217887"/>
          </a:xfrm>
        </p:spPr>
        <p:txBody>
          <a:bodyPr/>
          <a:lstStyle/>
          <a:p>
            <a:r>
              <a:rPr lang="en-US"/>
              <a:t>MNCNH Portfolio</a:t>
            </a: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73C00482-A1B2-7DC7-6B13-42EB901275F6}"/>
              </a:ext>
            </a:extLst>
          </p:cNvPr>
          <p:cNvSpPr/>
          <p:nvPr/>
        </p:nvSpPr>
        <p:spPr>
          <a:xfrm>
            <a:off x="9187373" y="237646"/>
            <a:ext cx="1505064" cy="448156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tx2"/>
                </a:solidFill>
              </a:rPr>
              <a:t>Birth and Intrapartum Care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176D792E-AB71-3686-E286-2A0C963BEA4E}"/>
              </a:ext>
            </a:extLst>
          </p:cNvPr>
          <p:cNvSpPr/>
          <p:nvPr/>
        </p:nvSpPr>
        <p:spPr>
          <a:xfrm>
            <a:off x="10546040" y="237646"/>
            <a:ext cx="1505064" cy="448156"/>
          </a:xfrm>
          <a:prstGeom prst="chevron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Newborns and Neonatal Care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01130B21-B7E8-0A9C-CD2F-303697F033FE}"/>
              </a:ext>
            </a:extLst>
          </p:cNvPr>
          <p:cNvSpPr/>
          <p:nvPr/>
        </p:nvSpPr>
        <p:spPr>
          <a:xfrm>
            <a:off x="7828706" y="237646"/>
            <a:ext cx="1505064" cy="448156"/>
          </a:xfrm>
          <a:prstGeom prst="chevron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Pregnancy and Antenatal Care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D650573-3D30-29AB-F17B-E487EF471BB6}"/>
              </a:ext>
            </a:extLst>
          </p:cNvPr>
          <p:cNvSpPr/>
          <p:nvPr/>
        </p:nvSpPr>
        <p:spPr>
          <a:xfrm>
            <a:off x="242403" y="2449940"/>
            <a:ext cx="1577771" cy="58706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Labor begins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36511B-F096-E80C-8F8C-C6639BAE7D3E}"/>
              </a:ext>
            </a:extLst>
          </p:cNvPr>
          <p:cNvSpPr/>
          <p:nvPr/>
        </p:nvSpPr>
        <p:spPr>
          <a:xfrm>
            <a:off x="9634801" y="3491499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Maternal disorders and maternal health outcomes (includes postpartum outcomes)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068BA6-465D-C447-24EA-98597979E1EE}"/>
              </a:ext>
            </a:extLst>
          </p:cNvPr>
          <p:cNvSpPr/>
          <p:nvPr/>
        </p:nvSpPr>
        <p:spPr>
          <a:xfrm>
            <a:off x="242403" y="3521569"/>
            <a:ext cx="1577771" cy="58706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Delivery facility selection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BA684F4-57D0-A435-0FEC-A1FD4AB141D9}"/>
              </a:ext>
            </a:extLst>
          </p:cNvPr>
          <p:cNvSpPr/>
          <p:nvPr/>
        </p:nvSpPr>
        <p:spPr>
          <a:xfrm>
            <a:off x="3309078" y="3828589"/>
            <a:ext cx="2416313" cy="587063"/>
          </a:xfrm>
          <a:prstGeom prst="roundRect">
            <a:avLst/>
          </a:prstGeom>
          <a:solidFill>
            <a:srgbClr val="FFFEC7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chivo"/>
                <a:cs typeface="Calibri"/>
              </a:rPr>
              <a:t>Prophylactic azithromycin for maternal sepsis prevention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F705764-336A-149A-0F0B-0F52F5FFCC4D}"/>
              </a:ext>
            </a:extLst>
          </p:cNvPr>
          <p:cNvSpPr/>
          <p:nvPr/>
        </p:nvSpPr>
        <p:spPr>
          <a:xfrm>
            <a:off x="3309078" y="4559643"/>
            <a:ext cx="2416313" cy="58706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Misoprostol for postpartum hemorrhage prevention in non-facility settings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5A7591B-D3FA-4D87-68E4-960C8A8560BE}"/>
              </a:ext>
            </a:extLst>
          </p:cNvPr>
          <p:cNvSpPr/>
          <p:nvPr/>
        </p:nvSpPr>
        <p:spPr>
          <a:xfrm>
            <a:off x="3309078" y="3097535"/>
            <a:ext cx="2416313" cy="5870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chivo"/>
                <a:cs typeface="Calibri"/>
              </a:rPr>
              <a:t>C-sections for births requiring intervention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56CD0E4-712E-5FAB-E436-60DA4BB687CD}"/>
              </a:ext>
            </a:extLst>
          </p:cNvPr>
          <p:cNvSpPr/>
          <p:nvPr/>
        </p:nvSpPr>
        <p:spPr>
          <a:xfrm>
            <a:off x="3309078" y="5290698"/>
            <a:ext cx="2416313" cy="58706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E-MOTIVE bundle for post-partum hemorrhage detection and treatment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AB304BB-1949-823E-674C-D5BDC5DBC39B}"/>
              </a:ext>
            </a:extLst>
          </p:cNvPr>
          <p:cNvSpPr/>
          <p:nvPr/>
        </p:nvSpPr>
        <p:spPr>
          <a:xfrm>
            <a:off x="3309078" y="2366481"/>
            <a:ext cx="2416313" cy="587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Antenatal corticosteroids in preterm labor for respiratory distress syndrome prevention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4181259-A403-39BB-996A-2719FF667D6D}"/>
              </a:ext>
            </a:extLst>
          </p:cNvPr>
          <p:cNvSpPr/>
          <p:nvPr/>
        </p:nvSpPr>
        <p:spPr>
          <a:xfrm>
            <a:off x="6557112" y="5293640"/>
            <a:ext cx="2416313" cy="58706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Hemoglobin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2503C0A-A90D-3256-6EDD-D3B10CA2265B}"/>
              </a:ext>
            </a:extLst>
          </p:cNvPr>
          <p:cNvSpPr/>
          <p:nvPr/>
        </p:nvSpPr>
        <p:spPr>
          <a:xfrm>
            <a:off x="6557122" y="1824207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Birthweight and gestational age of the baby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61A8E-E4B5-523C-C422-AC14CDD7CA84}"/>
              </a:ext>
            </a:extLst>
          </p:cNvPr>
          <p:cNvSpPr/>
          <p:nvPr/>
        </p:nvSpPr>
        <p:spPr>
          <a:xfrm>
            <a:off x="3373802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Interventions Available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D5D569E-0D7E-D6C5-2044-E79452D5C0C6}"/>
              </a:ext>
            </a:extLst>
          </p:cNvPr>
          <p:cNvSpPr/>
          <p:nvPr/>
        </p:nvSpPr>
        <p:spPr>
          <a:xfrm>
            <a:off x="299048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Beginning of Simulation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5C1AB0-DFEB-0F12-0FAD-2DEF48147922}"/>
              </a:ext>
            </a:extLst>
          </p:cNvPr>
          <p:cNvSpPr/>
          <p:nvPr/>
        </p:nvSpPr>
        <p:spPr>
          <a:xfrm>
            <a:off x="6621836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Risk Factors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20FEC0-420F-CBF7-7DEF-58BADF5EC691}"/>
              </a:ext>
            </a:extLst>
          </p:cNvPr>
          <p:cNvSpPr/>
          <p:nvPr/>
        </p:nvSpPr>
        <p:spPr>
          <a:xfrm>
            <a:off x="9606088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Simulation Outputs </a:t>
            </a:r>
          </a:p>
        </p:txBody>
      </p:sp>
      <p:cxnSp>
        <p:nvCxnSpPr>
          <p:cNvPr id="65" name="Connector: Elbow 52">
            <a:extLst>
              <a:ext uri="{FF2B5EF4-FFF2-40B4-BE49-F238E27FC236}">
                <a16:creationId xmlns:a16="http://schemas.microsoft.com/office/drawing/2014/main" id="{EADD461A-4DA1-923F-F2BC-216451E0AF6F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1031289" y="3037004"/>
            <a:ext cx="0" cy="484565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3E469986-833D-2C63-D404-960AE8B75460}"/>
              </a:ext>
            </a:extLst>
          </p:cNvPr>
          <p:cNvSpPr/>
          <p:nvPr/>
        </p:nvSpPr>
        <p:spPr>
          <a:xfrm>
            <a:off x="2214266" y="2166251"/>
            <a:ext cx="737921" cy="4011283"/>
          </a:xfrm>
          <a:prstGeom prst="chevron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ysClr val="windowText" lastClr="000000"/>
              </a:solidFill>
            </a:endParaRPr>
          </a:p>
        </p:txBody>
      </p:sp>
      <p:cxnSp>
        <p:nvCxnSpPr>
          <p:cNvPr id="82" name="Connector: Elbow 52">
            <a:extLst>
              <a:ext uri="{FF2B5EF4-FFF2-40B4-BE49-F238E27FC236}">
                <a16:creationId xmlns:a16="http://schemas.microsoft.com/office/drawing/2014/main" id="{29B256A5-F67F-912D-5393-40337162F780}"/>
              </a:ext>
            </a:extLst>
          </p:cNvPr>
          <p:cNvCxnSpPr>
            <a:cxnSpLocks/>
            <a:stCxn id="33" idx="3"/>
            <a:endCxn id="21" idx="1"/>
          </p:cNvCxnSpPr>
          <p:nvPr/>
        </p:nvCxnSpPr>
        <p:spPr>
          <a:xfrm flipV="1">
            <a:off x="5725391" y="3091209"/>
            <a:ext cx="3909410" cy="299858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52">
            <a:extLst>
              <a:ext uri="{FF2B5EF4-FFF2-40B4-BE49-F238E27FC236}">
                <a16:creationId xmlns:a16="http://schemas.microsoft.com/office/drawing/2014/main" id="{575E7974-C4D1-5879-1A55-39A294D97DCD}"/>
              </a:ext>
            </a:extLst>
          </p:cNvPr>
          <p:cNvCxnSpPr>
            <a:cxnSpLocks/>
            <a:stCxn id="38" idx="3"/>
            <a:endCxn id="15" idx="1"/>
          </p:cNvCxnSpPr>
          <p:nvPr/>
        </p:nvCxnSpPr>
        <p:spPr>
          <a:xfrm flipV="1">
            <a:off x="8973425" y="3785030"/>
            <a:ext cx="661376" cy="1802142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52">
            <a:extLst>
              <a:ext uri="{FF2B5EF4-FFF2-40B4-BE49-F238E27FC236}">
                <a16:creationId xmlns:a16="http://schemas.microsoft.com/office/drawing/2014/main" id="{0C515C43-267B-DBB0-E97A-B71CE1501B58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>
          <a:xfrm flipV="1">
            <a:off x="5725391" y="3785030"/>
            <a:ext cx="3909410" cy="337091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52">
            <a:extLst>
              <a:ext uri="{FF2B5EF4-FFF2-40B4-BE49-F238E27FC236}">
                <a16:creationId xmlns:a16="http://schemas.microsoft.com/office/drawing/2014/main" id="{86040157-EE77-39F5-3617-A46E7FA8EC65}"/>
              </a:ext>
            </a:extLst>
          </p:cNvPr>
          <p:cNvCxnSpPr>
            <a:cxnSpLocks/>
            <a:stCxn id="34" idx="3"/>
            <a:endCxn id="15" idx="1"/>
          </p:cNvCxnSpPr>
          <p:nvPr/>
        </p:nvCxnSpPr>
        <p:spPr>
          <a:xfrm flipV="1">
            <a:off x="5725391" y="3785030"/>
            <a:ext cx="3909410" cy="1799200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338995-D75A-7CAF-D6B1-EFCEC85BE3A7}"/>
              </a:ext>
            </a:extLst>
          </p:cNvPr>
          <p:cNvSpPr/>
          <p:nvPr/>
        </p:nvSpPr>
        <p:spPr>
          <a:xfrm>
            <a:off x="9634801" y="2797678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Neonatal mortality, stillbirths, and other neonatal health outcomes </a:t>
            </a:r>
          </a:p>
        </p:txBody>
      </p:sp>
      <p:cxnSp>
        <p:nvCxnSpPr>
          <p:cNvPr id="22" name="Connector: Elbow 52">
            <a:extLst>
              <a:ext uri="{FF2B5EF4-FFF2-40B4-BE49-F238E27FC236}">
                <a16:creationId xmlns:a16="http://schemas.microsoft.com/office/drawing/2014/main" id="{06BA010E-109D-D9B4-50D7-29194D73D969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>
            <a:off x="5725391" y="5584230"/>
            <a:ext cx="831721" cy="2942"/>
          </a:xfrm>
          <a:prstGeom prst="straightConnector1">
            <a:avLst/>
          </a:prstGeom>
          <a:ln w="9525">
            <a:solidFill>
              <a:schemeClr val="tx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52">
            <a:extLst>
              <a:ext uri="{FF2B5EF4-FFF2-40B4-BE49-F238E27FC236}">
                <a16:creationId xmlns:a16="http://schemas.microsoft.com/office/drawing/2014/main" id="{38168227-6DE4-7BC4-21B0-6504C42B3C75}"/>
              </a:ext>
            </a:extLst>
          </p:cNvPr>
          <p:cNvCxnSpPr>
            <a:cxnSpLocks/>
            <a:stCxn id="33" idx="3"/>
            <a:endCxn id="15" idx="1"/>
          </p:cNvCxnSpPr>
          <p:nvPr/>
        </p:nvCxnSpPr>
        <p:spPr>
          <a:xfrm>
            <a:off x="5725391" y="3391067"/>
            <a:ext cx="3909410" cy="393963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2">
            <a:extLst>
              <a:ext uri="{FF2B5EF4-FFF2-40B4-BE49-F238E27FC236}">
                <a16:creationId xmlns:a16="http://schemas.microsoft.com/office/drawing/2014/main" id="{BA49A862-812F-43CD-862E-6C795B6B4A9A}"/>
              </a:ext>
            </a:extLst>
          </p:cNvPr>
          <p:cNvCxnSpPr>
            <a:cxnSpLocks/>
            <a:stCxn id="40" idx="3"/>
            <a:endCxn id="21" idx="1"/>
          </p:cNvCxnSpPr>
          <p:nvPr/>
        </p:nvCxnSpPr>
        <p:spPr>
          <a:xfrm>
            <a:off x="8973425" y="2117738"/>
            <a:ext cx="661376" cy="97347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52">
            <a:extLst>
              <a:ext uri="{FF2B5EF4-FFF2-40B4-BE49-F238E27FC236}">
                <a16:creationId xmlns:a16="http://schemas.microsoft.com/office/drawing/2014/main" id="{A51A391D-301C-3D16-3AF5-321D3D5BD4D6}"/>
              </a:ext>
            </a:extLst>
          </p:cNvPr>
          <p:cNvCxnSpPr>
            <a:cxnSpLocks/>
            <a:stCxn id="36" idx="3"/>
            <a:endCxn id="21" idx="1"/>
          </p:cNvCxnSpPr>
          <p:nvPr/>
        </p:nvCxnSpPr>
        <p:spPr>
          <a:xfrm>
            <a:off x="5725391" y="2660013"/>
            <a:ext cx="3909410" cy="431196"/>
          </a:xfrm>
          <a:prstGeom prst="straightConnector1">
            <a:avLst/>
          </a:prstGeom>
          <a:ln w="95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52">
            <a:extLst>
              <a:ext uri="{FF2B5EF4-FFF2-40B4-BE49-F238E27FC236}">
                <a16:creationId xmlns:a16="http://schemas.microsoft.com/office/drawing/2014/main" id="{114F32B4-CABC-8AB4-8AC0-1A0E6AAACC0B}"/>
              </a:ext>
            </a:extLst>
          </p:cNvPr>
          <p:cNvCxnSpPr>
            <a:cxnSpLocks/>
            <a:stCxn id="32" idx="3"/>
            <a:endCxn id="15" idx="1"/>
          </p:cNvCxnSpPr>
          <p:nvPr/>
        </p:nvCxnSpPr>
        <p:spPr>
          <a:xfrm flipV="1">
            <a:off x="5725391" y="3785030"/>
            <a:ext cx="3909410" cy="1068145"/>
          </a:xfrm>
          <a:prstGeom prst="straightConnector1">
            <a:avLst/>
          </a:prstGeom>
          <a:ln w="952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711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9579-136C-2351-D0B9-215C34FF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2670-134C-12FC-1DD4-54FB9E5A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Newborns and neonatal care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77BF9-8BD4-0BD2-4C3B-1F2009A36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altLang="en-US" sz="1067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1E776F5-9A26-455E-BF09-7D727D022004}" type="slidenum">
              <a:rPr lang="en-US" smtClean="0"/>
              <a:pPr algn="ctr"/>
              <a:t>3</a:t>
            </a:fld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606D1A0-1476-B54A-9C10-9BFA872CF0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239313"/>
            <a:ext cx="1188720" cy="217887"/>
          </a:xfrm>
        </p:spPr>
        <p:txBody>
          <a:bodyPr/>
          <a:lstStyle/>
          <a:p>
            <a:r>
              <a:rPr lang="en-US"/>
              <a:t>MNCNH Portfolio</a:t>
            </a: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4CACC2F1-7888-499C-B0A9-4A48596A8F5F}"/>
              </a:ext>
            </a:extLst>
          </p:cNvPr>
          <p:cNvSpPr/>
          <p:nvPr/>
        </p:nvSpPr>
        <p:spPr>
          <a:xfrm>
            <a:off x="9187373" y="237646"/>
            <a:ext cx="1505064" cy="448156"/>
          </a:xfrm>
          <a:prstGeom prst="chevron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Birth and Intrapartum Care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EE1ECE04-8E3E-B249-BEED-58C1389C278E}"/>
              </a:ext>
            </a:extLst>
          </p:cNvPr>
          <p:cNvSpPr/>
          <p:nvPr/>
        </p:nvSpPr>
        <p:spPr>
          <a:xfrm>
            <a:off x="10546040" y="237646"/>
            <a:ext cx="1505064" cy="448156"/>
          </a:xfrm>
          <a:prstGeom prst="chevron">
            <a:avLst/>
          </a:prstGeom>
          <a:solidFill>
            <a:schemeClr val="tx1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tx2"/>
                </a:solidFill>
              </a:rPr>
              <a:t>Newborns and Neonatal Care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786C8185-043C-1D0C-C7C4-EB1E354633D2}"/>
              </a:ext>
            </a:extLst>
          </p:cNvPr>
          <p:cNvSpPr/>
          <p:nvPr/>
        </p:nvSpPr>
        <p:spPr>
          <a:xfrm>
            <a:off x="7828706" y="237646"/>
            <a:ext cx="1505064" cy="448156"/>
          </a:xfrm>
          <a:prstGeom prst="chevron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Pregnancy and Antenatal Care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0417F1-CAE0-2084-DD56-3F1BDFC6BD90}"/>
              </a:ext>
            </a:extLst>
          </p:cNvPr>
          <p:cNvSpPr/>
          <p:nvPr/>
        </p:nvSpPr>
        <p:spPr>
          <a:xfrm>
            <a:off x="242403" y="2449940"/>
            <a:ext cx="1577771" cy="58706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Child is born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CD72E3-767D-608A-1B60-6108CC486A08}"/>
              </a:ext>
            </a:extLst>
          </p:cNvPr>
          <p:cNvSpPr/>
          <p:nvPr/>
        </p:nvSpPr>
        <p:spPr>
          <a:xfrm>
            <a:off x="242403" y="3521569"/>
            <a:ext cx="1577771" cy="58706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Neonatal care facility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DF7ECB0-89A1-0F2A-F5FF-857529CA7D4E}"/>
              </a:ext>
            </a:extLst>
          </p:cNvPr>
          <p:cNvSpPr/>
          <p:nvPr/>
        </p:nvSpPr>
        <p:spPr>
          <a:xfrm>
            <a:off x="3309078" y="4344115"/>
            <a:ext cx="2416313" cy="587063"/>
          </a:xfrm>
          <a:prstGeom prst="roundRect">
            <a:avLst/>
          </a:prstGeom>
          <a:solidFill>
            <a:srgbClr val="FFFEC7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chivo"/>
                <a:cs typeface="Calibri"/>
              </a:rPr>
              <a:t>Antibiotics to treat neonatal bacterial infections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3856C1-1712-375A-93E6-C6A46A88B6B0}"/>
              </a:ext>
            </a:extLst>
          </p:cNvPr>
          <p:cNvSpPr/>
          <p:nvPr/>
        </p:nvSpPr>
        <p:spPr>
          <a:xfrm>
            <a:off x="3309078" y="3314333"/>
            <a:ext cx="2416313" cy="5870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chivo"/>
                <a:cs typeface="Calibri"/>
              </a:rPr>
              <a:t>Prophylactic probiotics for neonatal sepsis prevention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623FFE8-9C06-299E-F4B8-C3A75A5335D8}"/>
              </a:ext>
            </a:extLst>
          </p:cNvPr>
          <p:cNvSpPr/>
          <p:nvPr/>
        </p:nvSpPr>
        <p:spPr>
          <a:xfrm>
            <a:off x="3309078" y="2284552"/>
            <a:ext cx="2416313" cy="587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Continuous Positive Airway Pressure (CPAP) to treat respiratory distress syndrome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1A17FAA-3291-815A-C495-8E8E76046A65}"/>
              </a:ext>
            </a:extLst>
          </p:cNvPr>
          <p:cNvSpPr/>
          <p:nvPr/>
        </p:nvSpPr>
        <p:spPr>
          <a:xfrm>
            <a:off x="6557122" y="1850085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Birthweight and gestational age of the baby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D76410-5F2B-35F3-9A20-09A4B55F3F11}"/>
              </a:ext>
            </a:extLst>
          </p:cNvPr>
          <p:cNvSpPr/>
          <p:nvPr/>
        </p:nvSpPr>
        <p:spPr>
          <a:xfrm>
            <a:off x="3373802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Interventions Available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844FD6-776E-3F8C-6565-865CA051BE74}"/>
              </a:ext>
            </a:extLst>
          </p:cNvPr>
          <p:cNvSpPr/>
          <p:nvPr/>
        </p:nvSpPr>
        <p:spPr>
          <a:xfrm>
            <a:off x="299048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Beginning of Simulation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211D7F-4E30-194F-92EB-A5C163B29C2A}"/>
              </a:ext>
            </a:extLst>
          </p:cNvPr>
          <p:cNvSpPr/>
          <p:nvPr/>
        </p:nvSpPr>
        <p:spPr>
          <a:xfrm>
            <a:off x="6621836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Risk Factors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B0D162-DADE-BBB6-9F97-3BD0B8C5425D}"/>
              </a:ext>
            </a:extLst>
          </p:cNvPr>
          <p:cNvSpPr/>
          <p:nvPr/>
        </p:nvSpPr>
        <p:spPr>
          <a:xfrm>
            <a:off x="9606088" y="1370153"/>
            <a:ext cx="2286864" cy="317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ysClr val="windowText" lastClr="000000"/>
                </a:solidFill>
              </a:rPr>
              <a:t>Simulation Outputs </a:t>
            </a:r>
          </a:p>
        </p:txBody>
      </p:sp>
      <p:cxnSp>
        <p:nvCxnSpPr>
          <p:cNvPr id="65" name="Connector: Elbow 52">
            <a:extLst>
              <a:ext uri="{FF2B5EF4-FFF2-40B4-BE49-F238E27FC236}">
                <a16:creationId xmlns:a16="http://schemas.microsoft.com/office/drawing/2014/main" id="{454D3D4C-CC3A-51AC-54FA-A08F76BC64DB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1031289" y="3037004"/>
            <a:ext cx="0" cy="484565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Arrow: Chevron 73">
            <a:extLst>
              <a:ext uri="{FF2B5EF4-FFF2-40B4-BE49-F238E27FC236}">
                <a16:creationId xmlns:a16="http://schemas.microsoft.com/office/drawing/2014/main" id="{8C237DC7-7B38-7B9D-3240-61C25C9C3162}"/>
              </a:ext>
            </a:extLst>
          </p:cNvPr>
          <p:cNvSpPr/>
          <p:nvPr/>
        </p:nvSpPr>
        <p:spPr>
          <a:xfrm>
            <a:off x="2214266" y="2166251"/>
            <a:ext cx="737921" cy="4011283"/>
          </a:xfrm>
          <a:prstGeom prst="chevron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ysClr val="windowText" lastClr="000000"/>
              </a:solidFill>
            </a:endParaRPr>
          </a:p>
        </p:txBody>
      </p:sp>
      <p:cxnSp>
        <p:nvCxnSpPr>
          <p:cNvPr id="82" name="Connector: Elbow 52">
            <a:extLst>
              <a:ext uri="{FF2B5EF4-FFF2-40B4-BE49-F238E27FC236}">
                <a16:creationId xmlns:a16="http://schemas.microsoft.com/office/drawing/2014/main" id="{7978D0CF-19F9-F750-7684-A60E39684320}"/>
              </a:ext>
            </a:extLst>
          </p:cNvPr>
          <p:cNvCxnSpPr>
            <a:cxnSpLocks/>
            <a:stCxn id="33" idx="3"/>
            <a:endCxn id="21" idx="1"/>
          </p:cNvCxnSpPr>
          <p:nvPr/>
        </p:nvCxnSpPr>
        <p:spPr>
          <a:xfrm>
            <a:off x="5725391" y="3607865"/>
            <a:ext cx="3926104" cy="222958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52">
            <a:extLst>
              <a:ext uri="{FF2B5EF4-FFF2-40B4-BE49-F238E27FC236}">
                <a16:creationId xmlns:a16="http://schemas.microsoft.com/office/drawing/2014/main" id="{A866C50A-1018-D662-E5A9-5BADD5D5062A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 flipV="1">
            <a:off x="5725391" y="3830823"/>
            <a:ext cx="3926104" cy="806824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6AA560-2098-5DB5-D685-1C55430CB35E}"/>
              </a:ext>
            </a:extLst>
          </p:cNvPr>
          <p:cNvSpPr/>
          <p:nvPr/>
        </p:nvSpPr>
        <p:spPr>
          <a:xfrm>
            <a:off x="9651495" y="3537292"/>
            <a:ext cx="2416303" cy="58706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</a:rPr>
              <a:t>Neonatal mortality, stillbirths, and other neonatal health outcomes </a:t>
            </a:r>
          </a:p>
        </p:txBody>
      </p:sp>
      <p:cxnSp>
        <p:nvCxnSpPr>
          <p:cNvPr id="60" name="Connector: Elbow 52">
            <a:extLst>
              <a:ext uri="{FF2B5EF4-FFF2-40B4-BE49-F238E27FC236}">
                <a16:creationId xmlns:a16="http://schemas.microsoft.com/office/drawing/2014/main" id="{D837ACDB-48E1-1A61-2DBF-784D69850DCD}"/>
              </a:ext>
            </a:extLst>
          </p:cNvPr>
          <p:cNvCxnSpPr>
            <a:cxnSpLocks/>
            <a:stCxn id="40" idx="3"/>
            <a:endCxn id="21" idx="1"/>
          </p:cNvCxnSpPr>
          <p:nvPr/>
        </p:nvCxnSpPr>
        <p:spPr>
          <a:xfrm>
            <a:off x="8973425" y="2143616"/>
            <a:ext cx="678070" cy="1687207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52">
            <a:extLst>
              <a:ext uri="{FF2B5EF4-FFF2-40B4-BE49-F238E27FC236}">
                <a16:creationId xmlns:a16="http://schemas.microsoft.com/office/drawing/2014/main" id="{920CA26E-9642-836E-CC74-531EF01C8831}"/>
              </a:ext>
            </a:extLst>
          </p:cNvPr>
          <p:cNvCxnSpPr>
            <a:cxnSpLocks/>
            <a:stCxn id="36" idx="3"/>
            <a:endCxn id="21" idx="1"/>
          </p:cNvCxnSpPr>
          <p:nvPr/>
        </p:nvCxnSpPr>
        <p:spPr>
          <a:xfrm>
            <a:off x="5725391" y="2578084"/>
            <a:ext cx="3926104" cy="1252739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347254"/>
      </p:ext>
    </p:extLst>
  </p:cSld>
  <p:clrMapOvr>
    <a:masterClrMapping/>
  </p:clrMapOvr>
</p:sld>
</file>

<file path=ppt/theme/theme1.xml><?xml version="1.0" encoding="utf-8"?>
<a:theme xmlns:a="http://schemas.openxmlformats.org/drawingml/2006/main" name="IHME ppt theme">
  <a:themeElements>
    <a:clrScheme name="IHME General Brand - v3">
      <a:dk1>
        <a:srgbClr val="17B9CF"/>
      </a:dk1>
      <a:lt1>
        <a:srgbClr val="FFFFFF"/>
      </a:lt1>
      <a:dk2>
        <a:srgbClr val="000000"/>
      </a:dk2>
      <a:lt2>
        <a:srgbClr val="E7E6E6"/>
      </a:lt2>
      <a:accent1>
        <a:srgbClr val="17B9CF"/>
      </a:accent1>
      <a:accent2>
        <a:srgbClr val="0E7B95"/>
      </a:accent2>
      <a:accent3>
        <a:srgbClr val="32C980"/>
      </a:accent3>
      <a:accent4>
        <a:srgbClr val="89FFA7"/>
      </a:accent4>
      <a:accent5>
        <a:srgbClr val="E4281A"/>
      </a:accent5>
      <a:accent6>
        <a:srgbClr val="FF8A66"/>
      </a:accent6>
      <a:hlink>
        <a:srgbClr val="1E7B53"/>
      </a:hlink>
      <a:folHlink>
        <a:srgbClr val="66737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HME ppt theme" id="{5BA24E63-F5AE-4CBC-AA14-2AF7B565467F}" vid="{86142161-22F0-49FD-BF07-98B32D36CD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7C4EFE3BCDC24F9D43FB479AF7E97A" ma:contentTypeVersion="17" ma:contentTypeDescription="Create a new document." ma:contentTypeScope="" ma:versionID="710ccc9eba0c031f4d3c8297a7da4be2">
  <xsd:schema xmlns:xsd="http://www.w3.org/2001/XMLSchema" xmlns:xs="http://www.w3.org/2001/XMLSchema" xmlns:p="http://schemas.microsoft.com/office/2006/metadata/properties" xmlns:ns2="19a3940c-c740-4699-845a-46837f99845a" xmlns:ns3="539a68f6-d0ac-4a73-9041-e1fa437c4cee" xmlns:ns4="ab06a5aa-8e31-4bdb-9b13-38c58a92ec8a" targetNamespace="http://schemas.microsoft.com/office/2006/metadata/properties" ma:root="true" ma:fieldsID="a67399e28ae6312d8947be2cafff42c1" ns2:_="" ns3:_="" ns4:_="">
    <xsd:import namespace="19a3940c-c740-4699-845a-46837f99845a"/>
    <xsd:import namespace="539a68f6-d0ac-4a73-9041-e1fa437c4cee"/>
    <xsd:import namespace="ab06a5aa-8e31-4bdb-9b13-38c58a92e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a3940c-c740-4699-845a-46837f9984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20148b9-20a4-48a0-acba-ba52d68a3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a68f6-d0ac-4a73-9041-e1fa437c4c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6a5aa-8e31-4bdb-9b13-38c58a92ec8a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9111928-6144-480e-b796-ec79b7d3c2f4}" ma:internalName="TaxCatchAll" ma:showField="CatchAllData" ma:web="539a68f6-d0ac-4a73-9041-e1fa437c4c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b06a5aa-8e31-4bdb-9b13-38c58a92ec8a" xsi:nil="true"/>
    <lcf76f155ced4ddcb4097134ff3c332f xmlns="19a3940c-c740-4699-845a-46837f9984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3D89396-117C-4ED6-B9E3-6492D0E535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CE2229-B386-4A01-AACC-315E7D9D0A2A}">
  <ds:schemaRefs>
    <ds:schemaRef ds:uri="19a3940c-c740-4699-845a-46837f99845a"/>
    <ds:schemaRef ds:uri="539a68f6-d0ac-4a73-9041-e1fa437c4cee"/>
    <ds:schemaRef ds:uri="ab06a5aa-8e31-4bdb-9b13-38c58a92e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FD7F60-4024-4AAC-820D-98C2FC999600}">
  <ds:schemaRefs>
    <ds:schemaRef ds:uri="http://schemas.microsoft.com/office/2006/documentManagement/types"/>
    <ds:schemaRef ds:uri="19a3940c-c740-4699-845a-46837f99845a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ab06a5aa-8e31-4bdb-9b13-38c58a92ec8a"/>
    <ds:schemaRef ds:uri="539a68f6-d0ac-4a73-9041-e1fa437c4cee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283</Words>
  <Application>Microsoft Office PowerPoint</Application>
  <PresentationFormat>Widescreen</PresentationFormat>
  <Paragraphs>64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Archivo</vt:lpstr>
      <vt:lpstr>Archivo Light</vt:lpstr>
      <vt:lpstr>Archivo Medium</vt:lpstr>
      <vt:lpstr>Arial</vt:lpstr>
      <vt:lpstr>Calibri</vt:lpstr>
      <vt:lpstr>IHME ppt theme</vt:lpstr>
      <vt:lpstr>Pregnancy and antenatal care</vt:lpstr>
      <vt:lpstr>Birth and intrapartum care</vt:lpstr>
      <vt:lpstr>Newborns and neonatal care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Syl Lutze</dc:creator>
  <cp:lastModifiedBy>Syl Lutze</cp:lastModifiedBy>
  <cp:revision>2</cp:revision>
  <dcterms:created xsi:type="dcterms:W3CDTF">2024-04-01T19:56:36Z</dcterms:created>
  <dcterms:modified xsi:type="dcterms:W3CDTF">2026-04-07T21:09:57Z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0x010100447C4EFE3BCDC24F9D43FB479AF7E97A</vt:lpwstr>
  </property>
  <property fmtid="{D5CDD505-2E9C-101B-9397-08002B2CF9AE}" pid="3" name="MediaServiceImageTags">
    <vt:lpwstr/>
  </property>
</Properties>
</file>